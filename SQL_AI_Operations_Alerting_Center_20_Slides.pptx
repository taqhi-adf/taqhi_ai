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457200"/>
            <a:ext cx="2011680" cy="2011680"/>
          </a:xfrm>
          <a:prstGeom prst="ellipse">
            <a:avLst/>
          </a:prstGeom>
          <a:solidFill>
            <a:srgbClr val="19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46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94960"/>
            <a:ext cx="914400" cy="914400"/>
          </a:xfrm>
          <a:prstGeom prst="ellipse">
            <a:avLst/>
          </a:prstGeom>
          <a:solidFill>
            <a:srgbClr val="1E6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DE1"/>
                </a:solidFill>
                <a:latin typeface="Aptos"/>
              </a:rPr>
              <a:t>01  |  SQL AI OPERATIONS &amp; ALERTING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5F8FF"/>
                </a:solidFill>
                <a:latin typeface="Aptos"/>
              </a:rPr>
              <a:t>SQL AI OPERATIONS &amp; ALERTING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43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9D3FF"/>
                </a:solidFill>
                <a:latin typeface="Aptos"/>
              </a:rPr>
              <a:t>Enterprise-Grade GenAI + SQL Server + WhatsApp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9D3FF"/>
                </a:solidFill>
                <a:latin typeface="Aptos"/>
              </a:rPr>
              <a:t>TAQHI 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4-WEEK HANDS-ON 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93695" y="4389120"/>
            <a:ext cx="1600200" cy="731520"/>
          </a:xfrm>
          <a:prstGeom prst="roundRect">
            <a:avLst/>
          </a:prstGeom>
          <a:solidFill>
            <a:srgbClr val="164155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8FF"/>
                </a:solidFill>
              </a:rPr>
              <a:t>AI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93895" y="4754880"/>
            <a:ext cx="201168" cy="0"/>
          </a:xfrm>
          <a:prstGeom prst="line">
            <a:avLst/>
          </a:prstGeom>
          <a:ln w="25400">
            <a:solidFill>
              <a:srgbClr val="39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95063" y="4389120"/>
            <a:ext cx="1600200" cy="731520"/>
          </a:xfrm>
          <a:prstGeom prst="roundRect">
            <a:avLst/>
          </a:prstGeom>
          <a:solidFill>
            <a:srgbClr val="2B2F5B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8FF"/>
                </a:solidFill>
              </a:rPr>
              <a:t>SQL SERVER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95263" y="4754880"/>
            <a:ext cx="201168" cy="0"/>
          </a:xfrm>
          <a:prstGeom prst="line">
            <a:avLst/>
          </a:prstGeom>
          <a:ln w="25400">
            <a:solidFill>
              <a:srgbClr val="39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96431" y="4389120"/>
            <a:ext cx="1600200" cy="731520"/>
          </a:xfrm>
          <a:prstGeom prst="roundRect">
            <a:avLst/>
          </a:prstGeom>
          <a:solidFill>
            <a:srgbClr val="164155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8FF"/>
                </a:solidFill>
              </a:rPr>
              <a:t>MONITORING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96631" y="4754880"/>
            <a:ext cx="201168" cy="0"/>
          </a:xfrm>
          <a:prstGeom prst="line">
            <a:avLst/>
          </a:prstGeom>
          <a:ln w="25400">
            <a:solidFill>
              <a:srgbClr val="39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97799" y="4389120"/>
            <a:ext cx="1600200" cy="731520"/>
          </a:xfrm>
          <a:prstGeom prst="roundRect">
            <a:avLst/>
          </a:prstGeom>
          <a:solidFill>
            <a:srgbClr val="2B2F5B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8FF"/>
                </a:solidFill>
              </a:rPr>
              <a:t>WHATSAPP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2004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5F8FF"/>
                </a:solidFill>
                <a:latin typeface="Aptos"/>
              </a:rPr>
              <a:t>From GenAI prototype thinking to an integrated, security-aware operations platform.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457200"/>
            <a:ext cx="2011680" cy="2011680"/>
          </a:xfrm>
          <a:prstGeom prst="ellipse">
            <a:avLst/>
          </a:prstGeom>
          <a:solidFill>
            <a:srgbClr val="19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46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94960"/>
            <a:ext cx="914400" cy="914400"/>
          </a:xfrm>
          <a:prstGeom prst="ellipse">
            <a:avLst/>
          </a:prstGeom>
          <a:solidFill>
            <a:srgbClr val="1E6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DE1"/>
                </a:solidFill>
                <a:latin typeface="Aptos"/>
              </a:rPr>
              <a:t>02  |  SQL AI OPERATIONS &amp; ALERTING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Executive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43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9D3FF"/>
                </a:solidFill>
                <a:latin typeface="Aptos"/>
              </a:rPr>
              <a:t>A practical GenAI operations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2880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Natural language database 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95728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SQL Server health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6265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62656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WhatsApp operational alerting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2958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529584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Local Qwen3 4B inference with Ollama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9651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0965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Streamlit unified operations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6344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66344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Application-level read-only SQL guardrails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5897880"/>
            <a:ext cx="2514600" cy="384048"/>
          </a:xfrm>
          <a:prstGeom prst="roundRect">
            <a:avLst/>
          </a:prstGeom>
          <a:solidFill>
            <a:srgbClr val="1E4E56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8FF"/>
                </a:solidFill>
              </a:rPr>
              <a:t>4 WEEKS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457200"/>
            <a:ext cx="2011680" cy="2011680"/>
          </a:xfrm>
          <a:prstGeom prst="ellipse">
            <a:avLst/>
          </a:prstGeom>
          <a:solidFill>
            <a:srgbClr val="19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46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94960"/>
            <a:ext cx="914400" cy="914400"/>
          </a:xfrm>
          <a:prstGeom prst="ellipse">
            <a:avLst/>
          </a:prstGeom>
          <a:solidFill>
            <a:srgbClr val="1E6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DE1"/>
                </a:solidFill>
                <a:latin typeface="Aptos"/>
              </a:rPr>
              <a:t>03  |  SQL AI OPERATIONS &amp; ALERTING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43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9D3FF"/>
                </a:solidFill>
                <a:latin typeface="Aptos"/>
              </a:rPr>
              <a:t>From database complexity to actionable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2880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SQL knowledge is required for many routine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95728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Database health checks are often separated from user workflows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6265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62656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AI-generated SQL must be constrained before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2958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529584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Operational events benefit from immediate 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9651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0965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A useful enterprise assistant needs reliability, security and observability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457200"/>
            <a:ext cx="2011680" cy="2011680"/>
          </a:xfrm>
          <a:prstGeom prst="ellipse">
            <a:avLst/>
          </a:prstGeom>
          <a:solidFill>
            <a:srgbClr val="19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46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94960"/>
            <a:ext cx="914400" cy="914400"/>
          </a:xfrm>
          <a:prstGeom prst="ellipse">
            <a:avLst/>
          </a:prstGeom>
          <a:solidFill>
            <a:srgbClr val="1E6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DE1"/>
                </a:solidFill>
                <a:latin typeface="Aptos"/>
              </a:rPr>
              <a:t>04  |  SQL AI OPERATIONS &amp; ALERTING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43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9D3FF"/>
                </a:solidFill>
                <a:latin typeface="Aptos"/>
              </a:rPr>
              <a:t>One workflow for AI-assisted database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327" y="3931920"/>
            <a:ext cx="1600200" cy="731520"/>
          </a:xfrm>
          <a:prstGeom prst="roundRect">
            <a:avLst/>
          </a:prstGeom>
          <a:solidFill>
            <a:srgbClr val="164155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8FF"/>
                </a:solidFill>
              </a:rPr>
              <a:t>User → Natural Language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2527" y="4297680"/>
            <a:ext cx="201168" cy="0"/>
          </a:xfrm>
          <a:prstGeom prst="line">
            <a:avLst/>
          </a:prstGeom>
          <a:ln w="25400">
            <a:solidFill>
              <a:srgbClr val="39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93695" y="3931920"/>
            <a:ext cx="1600200" cy="731520"/>
          </a:xfrm>
          <a:prstGeom prst="roundRect">
            <a:avLst/>
          </a:prstGeom>
          <a:solidFill>
            <a:srgbClr val="2B2F5B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8FF"/>
                </a:solidFill>
              </a:rPr>
              <a:t>Qwen3 4B / Ollama → SQL generation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93895" y="4297680"/>
            <a:ext cx="201168" cy="0"/>
          </a:xfrm>
          <a:prstGeom prst="line">
            <a:avLst/>
          </a:prstGeom>
          <a:ln w="25400">
            <a:solidFill>
              <a:srgbClr val="39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95063" y="3931920"/>
            <a:ext cx="1600200" cy="731520"/>
          </a:xfrm>
          <a:prstGeom prst="roundRect">
            <a:avLst/>
          </a:prstGeom>
          <a:solidFill>
            <a:srgbClr val="164155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8FF"/>
                </a:solidFill>
              </a:rPr>
              <a:t>SQL validation → read-only guardrail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95263" y="4297680"/>
            <a:ext cx="201168" cy="0"/>
          </a:xfrm>
          <a:prstGeom prst="line">
            <a:avLst/>
          </a:prstGeom>
          <a:ln w="25400">
            <a:solidFill>
              <a:srgbClr val="39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96431" y="3931920"/>
            <a:ext cx="1600200" cy="731520"/>
          </a:xfrm>
          <a:prstGeom prst="roundRect">
            <a:avLst/>
          </a:prstGeom>
          <a:solidFill>
            <a:srgbClr val="2B2F5B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8FF"/>
                </a:solidFill>
              </a:rPr>
              <a:t>SQL Server → query execution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96631" y="4297680"/>
            <a:ext cx="201168" cy="0"/>
          </a:xfrm>
          <a:prstGeom prst="line">
            <a:avLst/>
          </a:prstGeom>
          <a:ln w="25400">
            <a:solidFill>
              <a:srgbClr val="39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97799" y="3931920"/>
            <a:ext cx="1600200" cy="731520"/>
          </a:xfrm>
          <a:prstGeom prst="roundRect">
            <a:avLst/>
          </a:prstGeom>
          <a:solidFill>
            <a:srgbClr val="164155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8FF"/>
                </a:solidFill>
              </a:rPr>
              <a:t>Pandas / Streamlit → results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597999" y="4297680"/>
            <a:ext cx="201168" cy="0"/>
          </a:xfrm>
          <a:prstGeom prst="line">
            <a:avLst/>
          </a:prstGeom>
          <a:ln w="25400">
            <a:solidFill>
              <a:srgbClr val="39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799167" y="3931920"/>
            <a:ext cx="1600200" cy="731520"/>
          </a:xfrm>
          <a:prstGeom prst="roundRect">
            <a:avLst/>
          </a:prstGeom>
          <a:solidFill>
            <a:srgbClr val="2B2F5B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8FF"/>
                </a:solidFill>
              </a:rPr>
              <a:t>WhatsApp Cloud API → operational notification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920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F8FF"/>
                </a:solidFill>
                <a:latin typeface="Aptos"/>
              </a:rPr>
              <a:t>A controlled path from user intent to verified database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457200"/>
            <a:ext cx="2011680" cy="2011680"/>
          </a:xfrm>
          <a:prstGeom prst="ellipse">
            <a:avLst/>
          </a:prstGeom>
          <a:solidFill>
            <a:srgbClr val="19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46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94960"/>
            <a:ext cx="914400" cy="914400"/>
          </a:xfrm>
          <a:prstGeom prst="ellipse">
            <a:avLst/>
          </a:prstGeom>
          <a:solidFill>
            <a:srgbClr val="1E6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DE1"/>
                </a:solidFill>
                <a:latin typeface="Aptos"/>
              </a:rPr>
              <a:t>05  |  SQL AI OPERATIONS &amp; ALERTING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High-Level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43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9D3FF"/>
                </a:solidFill>
                <a:latin typeface="Aptos"/>
              </a:rPr>
              <a:t>AI + database + monitoring + messaging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327" y="3566160"/>
            <a:ext cx="1600200" cy="731520"/>
          </a:xfrm>
          <a:prstGeom prst="roundRect">
            <a:avLst/>
          </a:prstGeom>
          <a:solidFill>
            <a:srgbClr val="164155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8FF"/>
                </a:solidFill>
              </a:rPr>
              <a:t>USER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2527" y="3931920"/>
            <a:ext cx="201168" cy="0"/>
          </a:xfrm>
          <a:prstGeom prst="line">
            <a:avLst/>
          </a:prstGeom>
          <a:ln w="25400">
            <a:solidFill>
              <a:srgbClr val="39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93695" y="3566160"/>
            <a:ext cx="1600200" cy="731520"/>
          </a:xfrm>
          <a:prstGeom prst="roundRect">
            <a:avLst/>
          </a:prstGeom>
          <a:solidFill>
            <a:srgbClr val="2B2F5B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8FF"/>
                </a:solidFill>
              </a:rPr>
              <a:t>STREAMLIT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93895" y="3931920"/>
            <a:ext cx="201168" cy="0"/>
          </a:xfrm>
          <a:prstGeom prst="line">
            <a:avLst/>
          </a:prstGeom>
          <a:ln w="25400">
            <a:solidFill>
              <a:srgbClr val="39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95063" y="3566160"/>
            <a:ext cx="1600200" cy="731520"/>
          </a:xfrm>
          <a:prstGeom prst="roundRect">
            <a:avLst/>
          </a:prstGeom>
          <a:solidFill>
            <a:srgbClr val="164155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8FF"/>
                </a:solidFill>
              </a:rPr>
              <a:t>QWEN3 / OLLAMA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95263" y="3931920"/>
            <a:ext cx="201168" cy="0"/>
          </a:xfrm>
          <a:prstGeom prst="line">
            <a:avLst/>
          </a:prstGeom>
          <a:ln w="25400">
            <a:solidFill>
              <a:srgbClr val="39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96431" y="3566160"/>
            <a:ext cx="1600200" cy="731520"/>
          </a:xfrm>
          <a:prstGeom prst="roundRect">
            <a:avLst/>
          </a:prstGeom>
          <a:solidFill>
            <a:srgbClr val="2B2F5B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8FF"/>
                </a:solidFill>
              </a:rPr>
              <a:t>SQL SAFETY GATE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96631" y="3931920"/>
            <a:ext cx="201168" cy="0"/>
          </a:xfrm>
          <a:prstGeom prst="line">
            <a:avLst/>
          </a:prstGeom>
          <a:ln w="25400">
            <a:solidFill>
              <a:srgbClr val="39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97799" y="3566160"/>
            <a:ext cx="1600200" cy="731520"/>
          </a:xfrm>
          <a:prstGeom prst="roundRect">
            <a:avLst/>
          </a:prstGeom>
          <a:solidFill>
            <a:srgbClr val="164155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8FF"/>
                </a:solidFill>
              </a:rPr>
              <a:t>SQL SERVER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597999" y="3931920"/>
            <a:ext cx="201168" cy="0"/>
          </a:xfrm>
          <a:prstGeom prst="line">
            <a:avLst/>
          </a:prstGeom>
          <a:ln w="25400">
            <a:solidFill>
              <a:srgbClr val="39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799167" y="3566160"/>
            <a:ext cx="1600200" cy="731520"/>
          </a:xfrm>
          <a:prstGeom prst="roundRect">
            <a:avLst/>
          </a:prstGeom>
          <a:solidFill>
            <a:srgbClr val="2B2F5B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8FF"/>
                </a:solidFill>
              </a:rPr>
              <a:t>WHATSAPP CLOUD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End-to-end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286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ECDE1"/>
                </a:solidFill>
                <a:latin typeface="Aptos"/>
              </a:rPr>
              <a:t>The platform connects model inference, database controls, operational status and messaging into one coherent workflow.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457200"/>
            <a:ext cx="2011680" cy="2011680"/>
          </a:xfrm>
          <a:prstGeom prst="ellipse">
            <a:avLst/>
          </a:prstGeom>
          <a:solidFill>
            <a:srgbClr val="19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46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94960"/>
            <a:ext cx="914400" cy="914400"/>
          </a:xfrm>
          <a:prstGeom prst="ellipse">
            <a:avLst/>
          </a:prstGeom>
          <a:solidFill>
            <a:srgbClr val="1E6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DE1"/>
                </a:solidFill>
                <a:latin typeface="Aptos"/>
              </a:rPr>
              <a:t>06  |  SQL AI OPERATIONS &amp; ALERTING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Core AI 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43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9D3FF"/>
                </a:solidFill>
                <a:latin typeface="Aptos"/>
              </a:rPr>
              <a:t>Natural language → SQL → 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842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Example: “Show employees with salary greater than 50,000.”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1874519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799" y="19842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Qwen3 converts the request into a SQL Server SELECT statement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79191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7889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Generated SQL is displayed for transparency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7" y="2679191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27889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Validation happens before execution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83863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593591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Results are returned as a DataFrame in the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2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457200"/>
            <a:ext cx="2011680" cy="2011680"/>
          </a:xfrm>
          <a:prstGeom prst="ellipse">
            <a:avLst/>
          </a:prstGeom>
          <a:solidFill>
            <a:srgbClr val="19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46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94960"/>
            <a:ext cx="914400" cy="914400"/>
          </a:xfrm>
          <a:prstGeom prst="ellipse">
            <a:avLst/>
          </a:prstGeom>
          <a:solidFill>
            <a:srgbClr val="1E6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DE1"/>
                </a:solidFill>
                <a:latin typeface="Aptos"/>
              </a:rPr>
              <a:t>07  |  SQL AI OPERATIONS &amp; ALERTING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SQL Generation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43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9D3FF"/>
                </a:solidFill>
                <a:latin typeface="Aptos"/>
              </a:rPr>
              <a:t>Controlled LLM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842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1. Capture user question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1874519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799" y="19842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2. Inject known database schema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79191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7889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3. Ask Qwen3 for ONE SELECT query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7" y="2679191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27889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4. Remove markdown wrappers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83863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593591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5. Validate the query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7" y="3483863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799" y="3593591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6. Execute only approved 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288536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398264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7. Display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457200"/>
            <a:ext cx="2011680" cy="2011680"/>
          </a:xfrm>
          <a:prstGeom prst="ellipse">
            <a:avLst/>
          </a:prstGeom>
          <a:solidFill>
            <a:srgbClr val="19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46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94960"/>
            <a:ext cx="914400" cy="914400"/>
          </a:xfrm>
          <a:prstGeom prst="ellipse">
            <a:avLst/>
          </a:prstGeom>
          <a:solidFill>
            <a:srgbClr val="1E6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DE1"/>
                </a:solidFill>
                <a:latin typeface="Aptos"/>
              </a:rPr>
              <a:t>08  |  SQL AI OPERATIONS &amp; ALERTING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Security &amp;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43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9D3FF"/>
                </a:solidFill>
                <a:latin typeface="Aptos"/>
              </a:rPr>
              <a:t>Read-only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2880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Blocked: INSERT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95728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Blocked: 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6265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62656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Blocked: DELETE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2958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529584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Blocked: DROP / ALTER / CREATE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9651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0965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Blocked: TRUNCATE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6344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66344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Blocked: EXEC / EXECUTE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23036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230368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Blocked: MERGE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79729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797296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Production hardening: dedicated SELECT-only database account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457200"/>
            <a:ext cx="2011680" cy="2011680"/>
          </a:xfrm>
          <a:prstGeom prst="ellipse">
            <a:avLst/>
          </a:prstGeom>
          <a:solidFill>
            <a:srgbClr val="19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46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94960"/>
            <a:ext cx="914400" cy="914400"/>
          </a:xfrm>
          <a:prstGeom prst="ellipse">
            <a:avLst/>
          </a:prstGeom>
          <a:solidFill>
            <a:srgbClr val="1E6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DE1"/>
                </a:solidFill>
                <a:latin typeface="Aptos"/>
              </a:rPr>
              <a:t>09  |  SQL AI OPERATIONS &amp; ALERTING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Defense in 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43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9D3FF"/>
                </a:solidFill>
                <a:latin typeface="Aptos"/>
              </a:rPr>
              <a:t>Application guardrail + database permissions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842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LLM prompt restrictions are not a security boundary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1874519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799" y="19842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Application validation provides a second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79191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7889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A dedicated SELECT-only DB identity provides a stronger final boundary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7" y="2679191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27889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Principle: assume generated output can be wrong and constrain execution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4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457200"/>
            <a:ext cx="2011680" cy="2011680"/>
          </a:xfrm>
          <a:prstGeom prst="ellipse">
            <a:avLst/>
          </a:prstGeom>
          <a:solidFill>
            <a:srgbClr val="19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46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94960"/>
            <a:ext cx="914400" cy="914400"/>
          </a:xfrm>
          <a:prstGeom prst="ellipse">
            <a:avLst/>
          </a:prstGeom>
          <a:solidFill>
            <a:srgbClr val="1E6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DE1"/>
                </a:solidFill>
                <a:latin typeface="Aptos"/>
              </a:rPr>
              <a:t>10  |  SQL AI OPERATIONS &amp; ALERTING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SQL Server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43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9D3FF"/>
                </a:solidFill>
                <a:latin typeface="Aptos"/>
              </a:rPr>
              <a:t>Know the database state before acting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842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Connection health check through PyODBC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1874519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799" y="19842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@@SERVERNAME identifies the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79191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7889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DB_NAME() confirms database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7" y="2679191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27889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GETDATE() provides SQL Server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83863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593591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Dashboard exposes ONLINE / OFFLINE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7" y="3483863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799" y="3593591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Connection failures are surfaced with error details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457200"/>
            <a:ext cx="2011680" cy="2011680"/>
          </a:xfrm>
          <a:prstGeom prst="ellipse">
            <a:avLst/>
          </a:prstGeom>
          <a:solidFill>
            <a:srgbClr val="19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46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94960"/>
            <a:ext cx="914400" cy="914400"/>
          </a:xfrm>
          <a:prstGeom prst="ellipse">
            <a:avLst/>
          </a:prstGeom>
          <a:solidFill>
            <a:srgbClr val="1E6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DE1"/>
                </a:solidFill>
                <a:latin typeface="Aptos"/>
              </a:rPr>
              <a:t>11  |  SQL AI OPERATIONS &amp; ALERTING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WhatsApp Alerting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43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9D3FF"/>
                </a:solidFill>
                <a:latin typeface="Aptos"/>
              </a:rPr>
              <a:t>Turn infrastructure state into an actionable message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842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Health check → alert payload → WhatsApp Cloud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1874519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799" y="19842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Recipient and credentials are environment-configured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79191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7889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Alert includes server, database, time and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7" y="2679191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27889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REST API integration uses authenticated POST requests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83863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593591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Current dashboard supports manual alert sending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D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457200"/>
            <a:ext cx="2011680" cy="2011680"/>
          </a:xfrm>
          <a:prstGeom prst="ellipse">
            <a:avLst/>
          </a:prstGeom>
          <a:solidFill>
            <a:srgbClr val="19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46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94960"/>
            <a:ext cx="914400" cy="914400"/>
          </a:xfrm>
          <a:prstGeom prst="ellipse">
            <a:avLst/>
          </a:prstGeom>
          <a:solidFill>
            <a:srgbClr val="1E6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DE1"/>
                </a:solidFill>
                <a:latin typeface="Aptos"/>
              </a:rPr>
              <a:t>12  |  SQL AI OPERATIONS &amp; ALERTING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Streamlit Operations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43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9D3FF"/>
                </a:solidFill>
                <a:latin typeface="Aptos"/>
              </a:rPr>
              <a:t>A single operational surface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842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AI SQL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1874519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799" y="19842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SQL Server Health Monitor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79191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7889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WhatsApp Alert Center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7" y="2679191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27889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Generated SQL viewer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83863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593591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Query results DataFrame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7" y="3483863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799" y="3593591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Connection / model / WhatsApp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288536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398264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Error handling and environment-based configuration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457200"/>
            <a:ext cx="2011680" cy="2011680"/>
          </a:xfrm>
          <a:prstGeom prst="ellipse">
            <a:avLst/>
          </a:prstGeom>
          <a:solidFill>
            <a:srgbClr val="19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46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94960"/>
            <a:ext cx="914400" cy="914400"/>
          </a:xfrm>
          <a:prstGeom prst="ellipse">
            <a:avLst/>
          </a:prstGeom>
          <a:solidFill>
            <a:srgbClr val="1E6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DE1"/>
                </a:solidFill>
                <a:latin typeface="Aptos"/>
              </a:rPr>
              <a:t>13  |  SQL AI OPERATIONS &amp; ALERTING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43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9D3FF"/>
                </a:solidFill>
                <a:latin typeface="Aptos"/>
              </a:rPr>
              <a:t>Open, practical and portfolio-ready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842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Python — application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1874519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799" y="19842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Qwen3 4B + Ollama — local 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79191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7889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LangChain — LLM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7" y="2679191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27889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Microsoft SQL Server + PyODBC — database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83863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593591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Pandas — result handling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7" y="3483863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799" y="3593591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Streamlit — 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288536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398264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WhatsApp Cloud API + REST — notifications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4288536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4398264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LangSmith — planned observability expansion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457200"/>
            <a:ext cx="2011680" cy="2011680"/>
          </a:xfrm>
          <a:prstGeom prst="ellipse">
            <a:avLst/>
          </a:prstGeom>
          <a:solidFill>
            <a:srgbClr val="19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46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94960"/>
            <a:ext cx="914400" cy="914400"/>
          </a:xfrm>
          <a:prstGeom prst="ellipse">
            <a:avLst/>
          </a:prstGeom>
          <a:solidFill>
            <a:srgbClr val="1E6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DE1"/>
                </a:solidFill>
                <a:latin typeface="Aptos"/>
              </a:rPr>
              <a:t>14  |  SQL AI OPERATIONS &amp; ALERTING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Configuration &amp; Secrets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43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9D3FF"/>
                </a:solidFill>
                <a:latin typeface="Aptos"/>
              </a:rPr>
              <a:t>Keep credentials out of source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66360" cy="694944"/>
          </a:xfrm>
          <a:prstGeom prst="roundRect">
            <a:avLst/>
          </a:prstGeom>
          <a:solidFill>
            <a:srgbClr val="142C44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6596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SQL and API settings are loaded from .env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828800"/>
            <a:ext cx="5166360" cy="694944"/>
          </a:xfrm>
          <a:prstGeom prst="roundRect">
            <a:avLst/>
          </a:prstGeom>
          <a:solidFill>
            <a:srgbClr val="142C44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1" y="196596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Access tokens are not hard-coded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166360" cy="694944"/>
          </a:xfrm>
          <a:prstGeom prst="roundRect">
            <a:avLst/>
          </a:prstGeom>
          <a:solidFill>
            <a:srgbClr val="142C44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88036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Database and messaging configuration are environment-driven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743200"/>
            <a:ext cx="5166360" cy="694944"/>
          </a:xfrm>
          <a:prstGeom prst="roundRect">
            <a:avLst/>
          </a:prstGeom>
          <a:solidFill>
            <a:srgbClr val="142C44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1" y="288036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Git hygiene: .env excluded through .gitignore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5166360" cy="694944"/>
          </a:xfrm>
          <a:prstGeom prst="roundRect">
            <a:avLst/>
          </a:prstGeom>
          <a:solidFill>
            <a:srgbClr val="142C44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79476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Production next step: managed secrets / vault-based configuration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457200"/>
            <a:ext cx="2011680" cy="2011680"/>
          </a:xfrm>
          <a:prstGeom prst="ellipse">
            <a:avLst/>
          </a:prstGeom>
          <a:solidFill>
            <a:srgbClr val="19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46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94960"/>
            <a:ext cx="914400" cy="914400"/>
          </a:xfrm>
          <a:prstGeom prst="ellipse">
            <a:avLst/>
          </a:prstGeom>
          <a:solidFill>
            <a:srgbClr val="1E6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DE1"/>
                </a:solidFill>
                <a:latin typeface="Aptos"/>
              </a:rPr>
              <a:t>15  |  SQL AI OPERATIONS &amp; ALERTING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Engineering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43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9D3FF"/>
                </a:solidFill>
                <a:latin typeface="Aptos"/>
              </a:rPr>
              <a:t>Four weeks of iterative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2880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Week-long cycles of learning and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95728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Coding → testing → debugging → refinement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6265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62656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API integration troubleshooting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2958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529584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Database connectivity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9651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0965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UI integration and usability improvements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6344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66344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Architecture refined toward production-oriented practices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5897880"/>
            <a:ext cx="2514600" cy="384048"/>
          </a:xfrm>
          <a:prstGeom prst="roundRect">
            <a:avLst/>
          </a:prstGeom>
          <a:solidFill>
            <a:srgbClr val="1E4E56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8FF"/>
                </a:solidFill>
              </a:rPr>
              <a:t>SECURITY-AWARE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D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457200"/>
            <a:ext cx="2011680" cy="2011680"/>
          </a:xfrm>
          <a:prstGeom prst="ellipse">
            <a:avLst/>
          </a:prstGeom>
          <a:solidFill>
            <a:srgbClr val="19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46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94960"/>
            <a:ext cx="914400" cy="914400"/>
          </a:xfrm>
          <a:prstGeom prst="ellipse">
            <a:avLst/>
          </a:prstGeom>
          <a:solidFill>
            <a:srgbClr val="1E6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DE1"/>
                </a:solidFill>
                <a:latin typeface="Aptos"/>
              </a:rPr>
              <a:t>16  |  SQL AI OPERATIONS &amp; ALERTING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Learning &amp; Engineering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43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9D3FF"/>
                </a:solidFill>
                <a:latin typeface="Aptos"/>
              </a:rPr>
              <a:t>More than an LLM 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842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SQL Server connectivity and Python database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1874519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799" y="19842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Natural-language-to-SQL generation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79191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7889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Local LLM deployment with Ollama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7" y="2679191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27889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LangChain integration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83863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593591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REST API integration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7" y="3483863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799" y="3593591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WhatsApp API integration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288536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398264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Streamlit development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4288536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4398264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Error handling, debugging and architecture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5897880"/>
            <a:ext cx="2514600" cy="384048"/>
          </a:xfrm>
          <a:prstGeom prst="roundRect">
            <a:avLst/>
          </a:prstGeom>
          <a:solidFill>
            <a:srgbClr val="1E4E56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8FF"/>
                </a:solidFill>
              </a:rPr>
              <a:t>ROADMAP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457200"/>
            <a:ext cx="2011680" cy="2011680"/>
          </a:xfrm>
          <a:prstGeom prst="ellipse">
            <a:avLst/>
          </a:prstGeom>
          <a:solidFill>
            <a:srgbClr val="19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46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94960"/>
            <a:ext cx="914400" cy="914400"/>
          </a:xfrm>
          <a:prstGeom prst="ellipse">
            <a:avLst/>
          </a:prstGeom>
          <a:solidFill>
            <a:srgbClr val="1E6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DE1"/>
                </a:solidFill>
                <a:latin typeface="Aptos"/>
              </a:rPr>
              <a:t>17  |  SQL AI OPERATIONS &amp; ALERTING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Reliability &amp; Production Thinking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43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9D3FF"/>
                </a:solidFill>
                <a:latin typeface="Aptos"/>
              </a:rPr>
              <a:t>What makes the project enterprise-oriented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842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Visible health status before operations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1874519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799" y="19842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Read-only execution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79191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7889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Explicit validation and failure handling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7" y="2679191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27889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Secrets separated from 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83863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593591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Modular services for monitoring and messaging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7" y="3483863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799" y="3593591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Transparent generated 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288536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398264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Clear path to authentication, audit and observability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457200"/>
            <a:ext cx="2011680" cy="2011680"/>
          </a:xfrm>
          <a:prstGeom prst="ellipse">
            <a:avLst/>
          </a:prstGeom>
          <a:solidFill>
            <a:srgbClr val="19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46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94960"/>
            <a:ext cx="914400" cy="914400"/>
          </a:xfrm>
          <a:prstGeom prst="ellipse">
            <a:avLst/>
          </a:prstGeom>
          <a:solidFill>
            <a:srgbClr val="1E6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DE1"/>
                </a:solidFill>
                <a:latin typeface="Aptos"/>
              </a:rPr>
              <a:t>18  |  SQL AI OPERATIONS &amp; ALERTING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Next-Generation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43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9D3FF"/>
                </a:solidFill>
                <a:latin typeface="Aptos"/>
              </a:rPr>
              <a:t>From portfolio project to production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842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Automatic SQL Server service-start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1874519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799" y="19842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Automatic WhatsApp notifications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79191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7889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LangSmith tracing and evaluation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7" y="2679191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27889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Audit logging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83863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593591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Authentication &amp; authorization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7" y="3483863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799" y="3593591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Docker + CI/CD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288536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398264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AI-generated SQL evaluation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4288536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4398264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Production-grade DB permissions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093208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5202936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Cloud deployment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457200"/>
            <a:ext cx="2011680" cy="2011680"/>
          </a:xfrm>
          <a:prstGeom prst="ellipse">
            <a:avLst/>
          </a:prstGeom>
          <a:solidFill>
            <a:srgbClr val="19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46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94960"/>
            <a:ext cx="914400" cy="914400"/>
          </a:xfrm>
          <a:prstGeom prst="ellipse">
            <a:avLst/>
          </a:prstGeom>
          <a:solidFill>
            <a:srgbClr val="1E6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DE1"/>
                </a:solidFill>
                <a:latin typeface="Aptos"/>
              </a:rPr>
              <a:t>19  |  SQL AI OPERATIONS &amp; ALERTING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Career Value &amp; Interview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43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9D3FF"/>
                </a:solidFill>
                <a:latin typeface="Aptos"/>
              </a:rPr>
              <a:t>A bridge from SQL administration to AI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842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Combines database expertise with modern GenAI application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1874519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799" y="19842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Demonstrates end-to-end thinking: model → system → product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79191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7889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Shows practical API, UI, security and monitoring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7" y="2679191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27889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Designed as an interview-discussion project with explainable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83863"/>
            <a:ext cx="5212080" cy="621792"/>
          </a:xfrm>
          <a:prstGeom prst="roundRect">
            <a:avLst/>
          </a:prstGeom>
          <a:solidFill>
            <a:srgbClr val="162742"/>
          </a:solidFill>
          <a:ln>
            <a:solidFill>
              <a:srgbClr val="39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593591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● Target roles: ML Engineer • Data Science &amp; ML • GenAI Engineer • AI Application Developer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5897880"/>
            <a:ext cx="2514600" cy="384048"/>
          </a:xfrm>
          <a:prstGeom prst="roundRect">
            <a:avLst/>
          </a:prstGeom>
          <a:solidFill>
            <a:srgbClr val="1E4E56"/>
          </a:solidFill>
          <a:ln>
            <a:solidFill>
              <a:srgbClr val="3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8FF"/>
                </a:solidFill>
              </a:rPr>
              <a:t>SECURITY-AWARE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457200"/>
            <a:ext cx="2011680" cy="2011680"/>
          </a:xfrm>
          <a:prstGeom prst="ellipse">
            <a:avLst/>
          </a:prstGeom>
          <a:solidFill>
            <a:srgbClr val="19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46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394960"/>
            <a:ext cx="914400" cy="914400"/>
          </a:xfrm>
          <a:prstGeom prst="ellipse">
            <a:avLst/>
          </a:prstGeom>
          <a:solidFill>
            <a:srgbClr val="1E6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DE1"/>
                </a:solidFill>
                <a:latin typeface="Aptos"/>
              </a:rPr>
              <a:t>20  |  SQL AI OPERATIONS &amp; ALERTING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PROJECT COMPLETED — NEXT BUILD BEGINS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43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9D3FF"/>
                </a:solidFill>
                <a:latin typeface="Aptos"/>
              </a:rPr>
              <a:t>Four weeks. One integrated platform. A stronger engineering foundation.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2880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Built with consistent effort, learning, debugging and refinement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95728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GitHub: github.com/Taqhi-adf/taqhi_ai.git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6265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62656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LinkedIn: www.linkedin.com/in/taqhi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2958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529584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Email: taqhibaba9@gmail.com | taqhibaba11@gmail.com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9651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FF"/>
                </a:solidFill>
                <a:latin typeface="Aptos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0965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Thank you — ready to discuss architecture, implementation and design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